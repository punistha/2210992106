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6" roundtripDataSignature="AMtx7mgD7lqUpwYSdhXRlNxFQafQAOUx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6845dd824_0_2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e6845dd824_0_2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6845dd824_0_1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3e6845dd824_0_1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6845dd824_0_36: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e6845dd824_0_3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6845dd824_0_5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e6845dd824_0_5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6845dd824_0_6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e6845dd824_0_6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6845dd824_0_7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6845dd824_0_7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e6845dd824_0_73: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6845dd824_0_8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6845dd824_0_85: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e6845dd824_0_85: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0"/>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2"/>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4"/>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5"/>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6"/>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6"/>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4"/>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4"/>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840631"/>
            <a:ext cx="9144000" cy="537728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Project Presentation of Industry Oriented Hands on Experience (22CS422)</a:t>
            </a:r>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On</a:t>
            </a:r>
            <a:endParaRPr/>
          </a:p>
          <a:p>
            <a:pPr indent="0" lvl="0" marL="0" marR="0" rtl="0" algn="ctr">
              <a:lnSpc>
                <a:spcPct val="100000"/>
              </a:lnSpc>
              <a:spcBef>
                <a:spcPts val="400"/>
              </a:spcBef>
              <a:spcAft>
                <a:spcPts val="0"/>
              </a:spcAft>
              <a:buNone/>
            </a:pPr>
            <a:r>
              <a:rPr lang="en-US" sz="4800">
                <a:solidFill>
                  <a:schemeClr val="dk1"/>
                </a:solidFill>
                <a:latin typeface="Times New Roman"/>
                <a:ea typeface="Times New Roman"/>
                <a:cs typeface="Times New Roman"/>
                <a:sym typeface="Times New Roman"/>
              </a:rPr>
              <a:t>Brain Tumor Detection Using AI</a:t>
            </a:r>
            <a:endParaRPr b="0" i="1"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Punistha</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2210992106</a:t>
            </a:r>
            <a:endParaRPr/>
          </a:p>
          <a:p>
            <a:pPr indent="0" lvl="0" marL="0" marR="0" rtl="0" algn="ctr">
              <a:lnSpc>
                <a:spcPct val="100000"/>
              </a:lnSpc>
              <a:spcBef>
                <a:spcPts val="40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Dr.Rajat Takkar </a:t>
            </a:r>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Department of Computer Science and Engineering, </a:t>
            </a:r>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Chitkara University, Punjab</a:t>
            </a:r>
            <a:endParaRPr/>
          </a:p>
          <a:p>
            <a:pPr indent="0" lvl="0" marL="0" marR="0" rtl="0" algn="ctr">
              <a:lnSpc>
                <a:spcPct val="150000"/>
              </a:lnSpc>
              <a:spcBef>
                <a:spcPts val="40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000" u="none" cap="none" strike="noStrike">
                <a:solidFill>
                  <a:schemeClr val="dk1"/>
                </a:solidFill>
                <a:latin typeface="Times New Roman"/>
                <a:ea typeface="Times New Roman"/>
                <a:cs typeface="Times New Roman"/>
                <a:sym typeface="Times New Roman"/>
              </a:rPr>
              <a:t>Introduction</a:t>
            </a:r>
            <a:endParaRPr b="0" i="0" sz="3000" u="none" cap="none"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457200" marR="0" rtl="0" algn="just">
              <a:spcBef>
                <a:spcPts val="0"/>
              </a:spcBef>
              <a:spcAft>
                <a:spcPts val="0"/>
              </a:spcAft>
              <a:buNone/>
            </a:pPr>
            <a:r>
              <a:rPr lang="en-US">
                <a:solidFill>
                  <a:schemeClr val="dk1"/>
                </a:solidFill>
                <a:latin typeface="Times New Roman"/>
                <a:ea typeface="Times New Roman"/>
                <a:cs typeface="Times New Roman"/>
                <a:sym typeface="Times New Roman"/>
              </a:rPr>
              <a:t>Doctors can now accurately detect the serious diseases by using medical imaging technologies like CT and MRI scans.However manually detecting the brain tumors from these scans is a difficult task which takes a lot of time and this can delay the treatment.This is where a precise and accurate AI model is required to solve this problem.Recent developments in Machine learning,artificial intelligence and deep learning has helped in creating an automated system that can examine medical images and find the hidden patterns.Computers can now interpret MRI scan images and determine whether they are normal or affected by tumors by using some deep learning techniques specifically Convolutional Neural Networks(CNNs).Even though a lot of deep learning techniques have been found but still it is very important to evaluate various machine learning and artificial intelligence models according to their accuracy,precision,speed and dependability.In order to help the doctors in diagnosing patients more quickly and provide better care,this study focuses on creating and contrasting a number of AI-based models to determine the best method for detecting brain tumors. </a:t>
            </a:r>
            <a:endParaRPr i="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i="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e6845dd824_0_20"/>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dk1"/>
                </a:solidFill>
                <a:latin typeface="Times New Roman"/>
                <a:ea typeface="Times New Roman"/>
                <a:cs typeface="Times New Roman"/>
                <a:sym typeface="Times New Roman"/>
              </a:rPr>
              <a:t>What is a Brain Tumor?</a:t>
            </a:r>
            <a:endParaRPr b="0" i="0" sz="3000" u="none" cap="none" strike="noStrike">
              <a:solidFill>
                <a:srgbClr val="000000"/>
              </a:solidFill>
              <a:latin typeface="Times New Roman"/>
              <a:ea typeface="Times New Roman"/>
              <a:cs typeface="Times New Roman"/>
              <a:sym typeface="Times New Roman"/>
            </a:endParaRPr>
          </a:p>
        </p:txBody>
      </p:sp>
      <p:sp>
        <p:nvSpPr>
          <p:cNvPr id="97" name="Google Shape;97;g3e6845dd824_0_20"/>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8" name="Google Shape;98;g3e6845dd824_0_20"/>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A brain tumor is an abnormal growth of cells within the brain or surrounding tissues. It can be classified as </a:t>
            </a:r>
            <a:r>
              <a:rPr b="1" lang="en-US">
                <a:solidFill>
                  <a:schemeClr val="dk1"/>
                </a:solidFill>
                <a:latin typeface="Times New Roman"/>
                <a:ea typeface="Times New Roman"/>
                <a:cs typeface="Times New Roman"/>
                <a:sym typeface="Times New Roman"/>
              </a:rPr>
              <a:t>primary</a:t>
            </a:r>
            <a:r>
              <a:rPr lang="en-US">
                <a:solidFill>
                  <a:schemeClr val="dk1"/>
                </a:solidFill>
                <a:latin typeface="Times New Roman"/>
                <a:ea typeface="Times New Roman"/>
                <a:cs typeface="Times New Roman"/>
                <a:sym typeface="Times New Roman"/>
              </a:rPr>
              <a:t>, originating in the brain itself, or </a:t>
            </a:r>
            <a:r>
              <a:rPr b="1" lang="en-US">
                <a:solidFill>
                  <a:schemeClr val="dk1"/>
                </a:solidFill>
                <a:latin typeface="Times New Roman"/>
                <a:ea typeface="Times New Roman"/>
                <a:cs typeface="Times New Roman"/>
                <a:sym typeface="Times New Roman"/>
              </a:rPr>
              <a:t>secondary (metastatic)</a:t>
            </a:r>
            <a:r>
              <a:rPr lang="en-US">
                <a:solidFill>
                  <a:schemeClr val="dk1"/>
                </a:solidFill>
                <a:latin typeface="Times New Roman"/>
                <a:ea typeface="Times New Roman"/>
                <a:cs typeface="Times New Roman"/>
                <a:sym typeface="Times New Roman"/>
              </a:rPr>
              <a:t>, where cancer spreads to the brain from other parts of the body.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Types of Brain Tumors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Benign Tumors (Non-Cancerous)</a:t>
            </a:r>
            <a:endParaRPr b="1">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Grow slowly and remain localized</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Do not spread to other tissues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Can still cause serious issues by exerting pressure on vital brain regions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Malignant Tumors (Cancerous)</a:t>
            </a:r>
            <a:endParaRPr b="1">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Grow rapidly and aggressively</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Invade nearby brain tissues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May spread to other parts of the central nervous system</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Common Symptoms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Persistent headaches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Seizures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Memory and cognitive difficulties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Neurological impairments (vision, speech, or coordination issues)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e6845dd824_0_14"/>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dk1"/>
                </a:solidFill>
                <a:latin typeface="Times New Roman"/>
                <a:ea typeface="Times New Roman"/>
                <a:cs typeface="Times New Roman"/>
                <a:sym typeface="Times New Roman"/>
              </a:rPr>
              <a:t>The Critical Need of Automation</a:t>
            </a:r>
            <a:endParaRPr b="0" i="0" sz="3000" u="none" cap="none" strike="noStrike">
              <a:solidFill>
                <a:srgbClr val="000000"/>
              </a:solidFill>
              <a:latin typeface="Times New Roman"/>
              <a:ea typeface="Times New Roman"/>
              <a:cs typeface="Times New Roman"/>
              <a:sym typeface="Times New Roman"/>
            </a:endParaRPr>
          </a:p>
        </p:txBody>
      </p:sp>
      <p:sp>
        <p:nvSpPr>
          <p:cNvPr id="104" name="Google Shape;104;g3e6845dd824_0_14"/>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05" name="Google Shape;105;g3e6845dd824_0_14"/>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Manual detection of brain tumors from MRI scans is often time-consuming and prone to human error, which can delay early diagnosis and critical treatment. Although medical imaging technologies have advanced significantly, the interpretation of these scans still depends largely on the expertise and experience of medical professionals.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An AI-based automated detection system can address these challenges by providing faster and more accurate analysis of medical images. It assists doctors in identifying tumors at an early stage, reducing delays and improving the overall efficiency of the diagnostic process.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Why AI Matters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Reduced Diagnosis Time</a:t>
            </a:r>
            <a:br>
              <a:rPr b="1"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Enables rapid analysis of MRI scans, saving valuable time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Minimized Human Error</a:t>
            </a:r>
            <a:br>
              <a:rPr b="1"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Improves accuracy and consistency in diagnosis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Early Detection</a:t>
            </a:r>
            <a:br>
              <a:rPr b="1"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Identifies tumors at initial stages for better treatment outcomes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Clinical Support</a:t>
            </a:r>
            <a:br>
              <a:rPr b="1"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Assists healthcare professionals in decision-making and diagnosis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marR="0" rtl="0" algn="just">
              <a:lnSpc>
                <a:spcPct val="100000"/>
              </a:lnSpc>
              <a:spcBef>
                <a:spcPts val="40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e6845dd824_0_36"/>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dk1"/>
                </a:solidFill>
                <a:latin typeface="Times New Roman"/>
                <a:ea typeface="Times New Roman"/>
                <a:cs typeface="Times New Roman"/>
                <a:sym typeface="Times New Roman"/>
              </a:rPr>
              <a:t>Methodology</a:t>
            </a:r>
            <a:endParaRPr b="0" i="0" sz="3000" u="none" cap="none" strike="noStrike">
              <a:solidFill>
                <a:srgbClr val="000000"/>
              </a:solidFill>
              <a:latin typeface="Times New Roman"/>
              <a:ea typeface="Times New Roman"/>
              <a:cs typeface="Times New Roman"/>
              <a:sym typeface="Times New Roman"/>
            </a:endParaRPr>
          </a:p>
        </p:txBody>
      </p:sp>
      <p:sp>
        <p:nvSpPr>
          <p:cNvPr id="111" name="Google Shape;111;g3e6845dd824_0_36"/>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12" name="Google Shape;112;g3e6845dd824_0_36"/>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400"/>
              </a:spcBef>
              <a:spcAft>
                <a:spcPts val="0"/>
              </a:spcAft>
              <a:buNone/>
            </a:pPr>
            <a:r>
              <a:rPr lang="en-US">
                <a:latin typeface="Times New Roman"/>
                <a:ea typeface="Times New Roman"/>
                <a:cs typeface="Times New Roman"/>
                <a:sym typeface="Times New Roman"/>
              </a:rPr>
              <a:t>The plan of the Brain tumor detection system follows a systematic machine learning and deep learning pipeline consisting of data collection,preprocessing,feature extraction,model development,Model development,training and testing,evaluation metrics. </a:t>
            </a:r>
            <a:endParaRPr>
              <a:latin typeface="Times New Roman"/>
              <a:ea typeface="Times New Roman"/>
              <a:cs typeface="Times New Roman"/>
              <a:sym typeface="Times New Roman"/>
            </a:endParaRPr>
          </a:p>
          <a:p>
            <a:pPr indent="0" lvl="0" marL="0" marR="0" rtl="0" algn="just">
              <a:lnSpc>
                <a:spcPct val="100000"/>
              </a:lnSpc>
              <a:spcBef>
                <a:spcPts val="400"/>
              </a:spcBef>
              <a:spcAft>
                <a:spcPts val="0"/>
              </a:spcAft>
              <a:buNone/>
            </a:pPr>
            <a:r>
              <a:rPr lang="en-US">
                <a:latin typeface="Times New Roman"/>
                <a:ea typeface="Times New Roman"/>
                <a:cs typeface="Times New Roman"/>
                <a:sym typeface="Times New Roman"/>
              </a:rPr>
              <a:t>A. Data Collection A publicly available MRI brain image dataset is used for this study.The dataset contains labeled images of tumor and non tumor cases.</a:t>
            </a:r>
            <a:endParaRPr>
              <a:latin typeface="Times New Roman"/>
              <a:ea typeface="Times New Roman"/>
              <a:cs typeface="Times New Roman"/>
              <a:sym typeface="Times New Roman"/>
            </a:endParaRPr>
          </a:p>
          <a:p>
            <a:pPr indent="0" lvl="0" marL="0" marR="0" rtl="0" algn="just">
              <a:lnSpc>
                <a:spcPct val="100000"/>
              </a:lnSpc>
              <a:spcBef>
                <a:spcPts val="400"/>
              </a:spcBef>
              <a:spcAft>
                <a:spcPts val="0"/>
              </a:spcAft>
              <a:buNone/>
            </a:pPr>
            <a:r>
              <a:rPr lang="en-US">
                <a:latin typeface="Times New Roman"/>
                <a:ea typeface="Times New Roman"/>
                <a:cs typeface="Times New Roman"/>
                <a:sym typeface="Times New Roman"/>
              </a:rPr>
              <a:t> B.Data Preprocessing The data is preprocessed to improve image quality and model performance.The preprocessing steps includes image resizing,noise reduction,normalization and image enhancement.Libraries used for preprocessing are OpenCV,PIL,NumPy and TensorFlow. </a:t>
            </a:r>
            <a:endParaRPr>
              <a:latin typeface="Times New Roman"/>
              <a:ea typeface="Times New Roman"/>
              <a:cs typeface="Times New Roman"/>
              <a:sym typeface="Times New Roman"/>
            </a:endParaRPr>
          </a:p>
          <a:p>
            <a:pPr indent="0" lvl="0" marL="0" marR="0" rtl="0" algn="just">
              <a:lnSpc>
                <a:spcPct val="100000"/>
              </a:lnSpc>
              <a:spcBef>
                <a:spcPts val="400"/>
              </a:spcBef>
              <a:spcAft>
                <a:spcPts val="0"/>
              </a:spcAft>
              <a:buNone/>
            </a:pPr>
            <a:r>
              <a:rPr lang="en-US">
                <a:latin typeface="Times New Roman"/>
                <a:ea typeface="Times New Roman"/>
                <a:cs typeface="Times New Roman"/>
                <a:sym typeface="Times New Roman"/>
              </a:rPr>
              <a:t>C.Feature Extraction In traditional machine learning models feature extraction techniques are used to capture the important patterns such as texture and shape but in deep learning feature extraction is automatically done by CNN. D.Model Development Models implemented for this are </a:t>
            </a:r>
            <a:endParaRPr>
              <a:latin typeface="Times New Roman"/>
              <a:ea typeface="Times New Roman"/>
              <a:cs typeface="Times New Roman"/>
              <a:sym typeface="Times New Roman"/>
            </a:endParaRPr>
          </a:p>
          <a:p>
            <a:pPr indent="457200" lvl="0" marL="0" marR="0" rtl="0" algn="just">
              <a:lnSpc>
                <a:spcPct val="100000"/>
              </a:lnSpc>
              <a:spcBef>
                <a:spcPts val="400"/>
              </a:spcBef>
              <a:spcAft>
                <a:spcPts val="0"/>
              </a:spcAft>
              <a:buNone/>
            </a:pPr>
            <a:r>
              <a:rPr lang="en-US">
                <a:latin typeface="Times New Roman"/>
                <a:ea typeface="Times New Roman"/>
                <a:cs typeface="Times New Roman"/>
                <a:sym typeface="Times New Roman"/>
              </a:rPr>
              <a:t>1. CNN for tumor classification. </a:t>
            </a:r>
            <a:endParaRPr>
              <a:latin typeface="Times New Roman"/>
              <a:ea typeface="Times New Roman"/>
              <a:cs typeface="Times New Roman"/>
              <a:sym typeface="Times New Roman"/>
            </a:endParaRPr>
          </a:p>
          <a:p>
            <a:pPr indent="457200" lvl="0" marL="0" marR="0" rtl="0" algn="just">
              <a:lnSpc>
                <a:spcPct val="100000"/>
              </a:lnSpc>
              <a:spcBef>
                <a:spcPts val="400"/>
              </a:spcBef>
              <a:spcAft>
                <a:spcPts val="0"/>
              </a:spcAft>
              <a:buNone/>
            </a:pPr>
            <a:r>
              <a:rPr lang="en-US">
                <a:latin typeface="Times New Roman"/>
                <a:ea typeface="Times New Roman"/>
                <a:cs typeface="Times New Roman"/>
                <a:sym typeface="Times New Roman"/>
              </a:rPr>
              <a:t>2.Random Forest and Gradient Boosting for comparison. </a:t>
            </a:r>
            <a:endParaRPr>
              <a:latin typeface="Times New Roman"/>
              <a:ea typeface="Times New Roman"/>
              <a:cs typeface="Times New Roman"/>
              <a:sym typeface="Times New Roman"/>
            </a:endParaRPr>
          </a:p>
          <a:p>
            <a:pPr indent="457200" lvl="0" marL="0" marR="0" rtl="0" algn="just">
              <a:lnSpc>
                <a:spcPct val="100000"/>
              </a:lnSpc>
              <a:spcBef>
                <a:spcPts val="400"/>
              </a:spcBef>
              <a:spcAft>
                <a:spcPts val="0"/>
              </a:spcAft>
              <a:buNone/>
            </a:pPr>
            <a:r>
              <a:rPr lang="en-US">
                <a:latin typeface="Times New Roman"/>
                <a:ea typeface="Times New Roman"/>
                <a:cs typeface="Times New Roman"/>
                <a:sym typeface="Times New Roman"/>
              </a:rPr>
              <a:t>3.YOLO for tumor detection and localization. </a:t>
            </a:r>
            <a:endParaRPr>
              <a:latin typeface="Times New Roman"/>
              <a:ea typeface="Times New Roman"/>
              <a:cs typeface="Times New Roman"/>
              <a:sym typeface="Times New Roman"/>
            </a:endParaRPr>
          </a:p>
          <a:p>
            <a:pPr indent="457200" lvl="0" marL="0" marR="0" rtl="0" algn="just">
              <a:lnSpc>
                <a:spcPct val="100000"/>
              </a:lnSpc>
              <a:spcBef>
                <a:spcPts val="400"/>
              </a:spcBef>
              <a:spcAft>
                <a:spcPts val="0"/>
              </a:spcAft>
              <a:buNone/>
            </a:pPr>
            <a:r>
              <a:rPr lang="en-US">
                <a:latin typeface="Times New Roman"/>
                <a:ea typeface="Times New Roman"/>
                <a:cs typeface="Times New Roman"/>
                <a:sym typeface="Times New Roman"/>
              </a:rPr>
              <a:t>4.U-Net for tumor segmentation. </a:t>
            </a:r>
            <a:endParaRPr>
              <a:latin typeface="Times New Roman"/>
              <a:ea typeface="Times New Roman"/>
              <a:cs typeface="Times New Roman"/>
              <a:sym typeface="Times New Roman"/>
            </a:endParaRPr>
          </a:p>
          <a:p>
            <a:pPr indent="0" lvl="0" marL="0" marR="0" rtl="0" algn="just">
              <a:lnSpc>
                <a:spcPct val="100000"/>
              </a:lnSpc>
              <a:spcBef>
                <a:spcPts val="400"/>
              </a:spcBef>
              <a:spcAft>
                <a:spcPts val="0"/>
              </a:spcAft>
              <a:buNone/>
            </a:pPr>
            <a:r>
              <a:rPr lang="en-US">
                <a:latin typeface="Times New Roman"/>
                <a:ea typeface="Times New Roman"/>
                <a:cs typeface="Times New Roman"/>
                <a:sym typeface="Times New Roman"/>
              </a:rPr>
              <a:t>E.Training and Testing In this step models are first trained by using labeled data and then tested on unseen data. F.Training and Testing The performance of the model is evaluated on the basis of accuracy,precision,recall,F1-score,ROC curve.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e6845dd824_0_54"/>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dk1"/>
                </a:solidFill>
                <a:latin typeface="Times New Roman"/>
                <a:ea typeface="Times New Roman"/>
                <a:cs typeface="Times New Roman"/>
                <a:sym typeface="Times New Roman"/>
              </a:rPr>
              <a:t>Deep Learning Models for Brain Tumor Detection </a:t>
            </a:r>
            <a:endParaRPr b="0" i="0" sz="3000" u="none" cap="none" strike="noStrike">
              <a:solidFill>
                <a:srgbClr val="000000"/>
              </a:solidFill>
              <a:latin typeface="Times New Roman"/>
              <a:ea typeface="Times New Roman"/>
              <a:cs typeface="Times New Roman"/>
              <a:sym typeface="Times New Roman"/>
            </a:endParaRPr>
          </a:p>
        </p:txBody>
      </p:sp>
      <p:sp>
        <p:nvSpPr>
          <p:cNvPr id="118" name="Google Shape;118;g3e6845dd824_0_54"/>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19" name="Google Shape;119;g3e6845dd824_0_54"/>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The following deep learning models are utilized for effective brain tumor detection using AI:</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Convolutional Neural Network (CNN)</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Acts as a baseline model for image classification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Automatically extracts hierarchical features from medical images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Used as a benchmark for evaluating model performance</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YOLO (You Only Look Once)</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 real-time object detection framework</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Efficiently detects and localizes tumor regions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Produces bounding boxes around affected areas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U-Net Architecture</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Specifically designed for biomedical image segmentation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Enables precise pixel-level tumor segmentation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Accurately captures tumor shape and boundaries</a:t>
            </a:r>
            <a:endParaRPr>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e6845dd824_0_60"/>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Clinical Impact</a:t>
            </a:r>
            <a:endParaRPr b="0" i="0" sz="3000" u="none" cap="none" strike="noStrike">
              <a:solidFill>
                <a:srgbClr val="000000"/>
              </a:solidFill>
              <a:latin typeface="Times New Roman"/>
              <a:ea typeface="Times New Roman"/>
              <a:cs typeface="Times New Roman"/>
              <a:sym typeface="Times New Roman"/>
            </a:endParaRPr>
          </a:p>
        </p:txBody>
      </p:sp>
      <p:sp>
        <p:nvSpPr>
          <p:cNvPr id="125" name="Google Shape;125;g3e6845dd824_0_60"/>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26" name="Google Shape;126;g3e6845dd824_0_60"/>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AI-based brain tumor detection systems significantly enhance clinical outcomes by speeding up the diagnostic process and reducing reliance on manual analysis. These systems provide multiple benefits, as outlined below:</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Faster Diagnosis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Automated analysis reduces processing time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Supports rapid decision-making in critical cases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Early Detection</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Detects tumors at earlier stages with improved accuracy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Increases the likelihood of effective treatment and recovery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Clinical Support</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Provides healthcare professionals with reliable, data-driven insights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Aids in accurate diagnosis and treatment planning</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Improved Outcomes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Leads to better patient outcomes through timely intervention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Helps reduce complications and improve survival rates</a:t>
            </a:r>
            <a:endParaRPr>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e6845dd824_0_73"/>
          <p:cNvSpPr txBox="1"/>
          <p:nvPr/>
        </p:nvSpPr>
        <p:spPr>
          <a:xfrm>
            <a:off x="446850" y="145800"/>
            <a:ext cx="5973600" cy="125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Clr>
                <a:schemeClr val="dk1"/>
              </a:buClr>
              <a:buSzPts val="1100"/>
              <a:buFont typeface="Arial"/>
              <a:buNone/>
            </a:pPr>
            <a:r>
              <a:rPr lang="en-US" sz="3000">
                <a:solidFill>
                  <a:schemeClr val="dk1"/>
                </a:solidFill>
                <a:latin typeface="Times New Roman"/>
                <a:ea typeface="Times New Roman"/>
                <a:cs typeface="Times New Roman"/>
                <a:sym typeface="Times New Roman"/>
              </a:rPr>
              <a:t>The Future of Medical Diagnosis</a:t>
            </a:r>
            <a:endParaRPr sz="3000">
              <a:solidFill>
                <a:schemeClr val="dk1"/>
              </a:solidFill>
              <a:latin typeface="Times New Roman"/>
              <a:ea typeface="Times New Roman"/>
              <a:cs typeface="Times New Roman"/>
              <a:sym typeface="Times New Roman"/>
            </a:endParaRPr>
          </a:p>
          <a:p>
            <a:pPr indent="0" lvl="0" marL="0" rtl="0" algn="l">
              <a:spcBef>
                <a:spcPts val="600"/>
              </a:spcBef>
              <a:spcAft>
                <a:spcPts val="0"/>
              </a:spcAft>
              <a:buNone/>
            </a:pPr>
            <a:r>
              <a:t/>
            </a:r>
            <a:endParaRPr sz="3000">
              <a:solidFill>
                <a:schemeClr val="dk1"/>
              </a:solidFill>
              <a:latin typeface="Times New Roman"/>
              <a:ea typeface="Times New Roman"/>
              <a:cs typeface="Times New Roman"/>
              <a:sym typeface="Times New Roman"/>
            </a:endParaRPr>
          </a:p>
        </p:txBody>
      </p:sp>
      <p:sp>
        <p:nvSpPr>
          <p:cNvPr id="133" name="Google Shape;133;g3e6845dd824_0_73"/>
          <p:cNvSpPr txBox="1"/>
          <p:nvPr/>
        </p:nvSpPr>
        <p:spPr>
          <a:xfrm>
            <a:off x="907825" y="1239425"/>
            <a:ext cx="7302300" cy="4887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This research demonstrates how AI-based systems are transforming brain tumor detection from a time-consuming manual process into a fast, automated, and efficient solution. By integrating </a:t>
            </a:r>
            <a:r>
              <a:rPr b="1" lang="en-US">
                <a:solidFill>
                  <a:schemeClr val="dk1"/>
                </a:solidFill>
                <a:latin typeface="Times New Roman"/>
                <a:ea typeface="Times New Roman"/>
                <a:cs typeface="Times New Roman"/>
                <a:sym typeface="Times New Roman"/>
              </a:rPr>
              <a:t>CNN for classification</a:t>
            </a:r>
            <a:r>
              <a:rPr lang="en-US">
                <a:solidFill>
                  <a:schemeClr val="dk1"/>
                </a:solidFill>
                <a:latin typeface="Times New Roman"/>
                <a:ea typeface="Times New Roman"/>
                <a:cs typeface="Times New Roman"/>
                <a:sym typeface="Times New Roman"/>
              </a:rPr>
              <a:t>, </a:t>
            </a:r>
            <a:r>
              <a:rPr b="1" lang="en-US">
                <a:solidFill>
                  <a:schemeClr val="dk1"/>
                </a:solidFill>
                <a:latin typeface="Times New Roman"/>
                <a:ea typeface="Times New Roman"/>
                <a:cs typeface="Times New Roman"/>
                <a:sym typeface="Times New Roman"/>
              </a:rPr>
              <a:t>YOLO for detection</a:t>
            </a:r>
            <a:r>
              <a:rPr lang="en-US">
                <a:solidFill>
                  <a:schemeClr val="dk1"/>
                </a:solidFill>
                <a:latin typeface="Times New Roman"/>
                <a:ea typeface="Times New Roman"/>
                <a:cs typeface="Times New Roman"/>
                <a:sym typeface="Times New Roman"/>
              </a:rPr>
              <a:t>, and </a:t>
            </a:r>
            <a:r>
              <a:rPr b="1" lang="en-US">
                <a:solidFill>
                  <a:schemeClr val="dk1"/>
                </a:solidFill>
                <a:latin typeface="Times New Roman"/>
                <a:ea typeface="Times New Roman"/>
                <a:cs typeface="Times New Roman"/>
                <a:sym typeface="Times New Roman"/>
              </a:rPr>
              <a:t>U-Net for segmentation</a:t>
            </a:r>
            <a:r>
              <a:rPr lang="en-US">
                <a:solidFill>
                  <a:schemeClr val="dk1"/>
                </a:solidFill>
                <a:latin typeface="Times New Roman"/>
                <a:ea typeface="Times New Roman"/>
                <a:cs typeface="Times New Roman"/>
                <a:sym typeface="Times New Roman"/>
              </a:rPr>
              <a:t>, the system provides comprehensive diagnostic support.</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The combined approach enhances accuracy and enables early detection of tumors, which is crucial for effective treatment. It also significantly reduces analysis time, allowing doctors to make quicker and more informed clinical decisions.</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AI in healthcare is not intended to replace medical professionals, but to empower them. By providing reliable, data-driven insights, it supports better diagnosis, reduces workload, and improves overall efficiency. Ultimately, this leads to timely intervention, improved patient care, and higher survival rates.</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6845dd824_0_85"/>
          <p:cNvSpPr txBox="1"/>
          <p:nvPr/>
        </p:nvSpPr>
        <p:spPr>
          <a:xfrm>
            <a:off x="460975" y="134050"/>
            <a:ext cx="5950200" cy="6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dk1"/>
                </a:solidFill>
                <a:latin typeface="Times New Roman"/>
                <a:ea typeface="Times New Roman"/>
                <a:cs typeface="Times New Roman"/>
                <a:sym typeface="Times New Roman"/>
              </a:rPr>
              <a:t>Conclusion</a:t>
            </a:r>
            <a:endParaRPr sz="3000">
              <a:solidFill>
                <a:schemeClr val="dk1"/>
              </a:solidFill>
              <a:latin typeface="Times New Roman"/>
              <a:ea typeface="Times New Roman"/>
              <a:cs typeface="Times New Roman"/>
              <a:sym typeface="Times New Roman"/>
            </a:endParaRPr>
          </a:p>
        </p:txBody>
      </p:sp>
      <p:sp>
        <p:nvSpPr>
          <p:cNvPr id="140" name="Google Shape;140;g3e6845dd824_0_85"/>
          <p:cNvSpPr txBox="1"/>
          <p:nvPr/>
        </p:nvSpPr>
        <p:spPr>
          <a:xfrm>
            <a:off x="460975" y="1133600"/>
            <a:ext cx="7749300" cy="4174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dk1"/>
                </a:solidFill>
                <a:latin typeface="Times New Roman"/>
                <a:ea typeface="Times New Roman"/>
                <a:cs typeface="Times New Roman"/>
                <a:sym typeface="Times New Roman"/>
              </a:rPr>
              <a:t>This research is focused on developing an AI-based brain tumor detection system using machine learning and deep learning techniques to faster medical diagnosis.Since manual diagnosis is time consuming and depends heavily on the doctors or the experts,the proposed system aims at providing an automated and efficient solution.The system follows a structured way that include MRI image collection,preprocessing and feature extraction.Deep learning models like CNN ,YOLO,U-Net are used in feature extraction,tumor detection,localization and segmentation. Overall this study highlights the importance of AI in the medical sector and shows how automated brain detection systems can help the doctors in detecting the brain tumor at an early stage which will help them in taking the further steps to cure the brain tumor without wasting any time.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5400" u="none" cap="none" strike="noStrike">
                <a:solidFill>
                  <a:schemeClr val="dk1"/>
                </a:solidFill>
                <a:latin typeface="Times New Roman"/>
                <a:ea typeface="Times New Roman"/>
                <a:cs typeface="Times New Roman"/>
                <a:sym typeface="Times New Roman"/>
              </a:rPr>
              <a:t>Thank You</a:t>
            </a:r>
            <a:endParaRPr b="0" i="0" sz="5400" u="none" cap="none" strike="noStrike">
              <a:solidFill>
                <a:srgbClr val="000000"/>
              </a:solidFill>
              <a:latin typeface="Times New Roman"/>
              <a:ea typeface="Times New Roman"/>
              <a:cs typeface="Times New Roman"/>
              <a:sym typeface="Times New Roman"/>
            </a:endParaRPr>
          </a:p>
        </p:txBody>
      </p:sp>
      <p:sp>
        <p:nvSpPr>
          <p:cNvPr id="146" name="Google Shape;146;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